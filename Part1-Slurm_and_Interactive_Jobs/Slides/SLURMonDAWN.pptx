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8" r:id="rId1"/>
  </p:sldMasterIdLst>
  <p:notesMasterIdLst>
    <p:notesMasterId r:id="rId30"/>
  </p:notesMasterIdLst>
  <p:handoutMasterIdLst>
    <p:handoutMasterId r:id="rId31"/>
  </p:handoutMasterIdLst>
  <p:sldIdLst>
    <p:sldId id="272" r:id="rId2"/>
    <p:sldId id="929" r:id="rId3"/>
    <p:sldId id="952" r:id="rId4"/>
    <p:sldId id="953" r:id="rId5"/>
    <p:sldId id="954" r:id="rId6"/>
    <p:sldId id="955" r:id="rId7"/>
    <p:sldId id="958" r:id="rId8"/>
    <p:sldId id="959" r:id="rId9"/>
    <p:sldId id="960" r:id="rId10"/>
    <p:sldId id="961" r:id="rId11"/>
    <p:sldId id="962" r:id="rId12"/>
    <p:sldId id="963" r:id="rId13"/>
    <p:sldId id="964" r:id="rId14"/>
    <p:sldId id="965" r:id="rId15"/>
    <p:sldId id="966" r:id="rId16"/>
    <p:sldId id="967" r:id="rId17"/>
    <p:sldId id="968" r:id="rId18"/>
    <p:sldId id="969" r:id="rId19"/>
    <p:sldId id="970" r:id="rId20"/>
    <p:sldId id="971" r:id="rId21"/>
    <p:sldId id="972" r:id="rId22"/>
    <p:sldId id="976" r:id="rId23"/>
    <p:sldId id="977" r:id="rId24"/>
    <p:sldId id="973" r:id="rId25"/>
    <p:sldId id="979" r:id="rId26"/>
    <p:sldId id="981" r:id="rId27"/>
    <p:sldId id="982" r:id="rId28"/>
    <p:sldId id="28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4ED"/>
    <a:srgbClr val="AD5C4D"/>
    <a:srgbClr val="BB60D5"/>
    <a:srgbClr val="404040"/>
    <a:srgbClr val="D1D8B7"/>
    <a:srgbClr val="A09D79"/>
    <a:srgbClr val="543E35"/>
    <a:srgbClr val="637700"/>
    <a:srgbClr val="5E6A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7FF5B-3210-47B8-B59B-50382F448E80}" v="218" dt="2026-03-09T13:19:52.199"/>
  </p1510:revLst>
</p1510:revInfo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830"/>
  </p:normalViewPr>
  <p:slideViewPr>
    <p:cSldViewPr snapToGrid="0">
      <p:cViewPr varScale="1">
        <p:scale>
          <a:sx n="161" d="100"/>
          <a:sy n="161" d="100"/>
        </p:scale>
        <p:origin x="308" y="8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64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D913024-4032-4B4F-8680-09D5E08EDB6E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49E357A0-8177-46BC-BFCE-19D99E3453C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GB" sz="1200"/>
            </a:lvl1pPr>
          </a:lstStyle>
          <a:p>
            <a:pPr rtl="0"/>
            <a:fld id="{F2AE225E-43E0-7047-8ADB-DD9EBB41B4D0}" type="datetimeFigureOut">
              <a:rPr lang="en-GB" noProof="0" smtClean="0"/>
              <a:t>08/03/2026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GB"/>
            </a:defPPr>
          </a:lstStyle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GB"/>
            </a:def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GB"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GB" sz="1200"/>
            </a:lvl1pPr>
          </a:lstStyle>
          <a:p>
            <a:pPr rtl="0"/>
            <a:fld id="{7C366290-4595-5745-A50F-D5EC13BAC60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GB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C366290-4595-5745-A50F-D5EC13BAC60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89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7C366290-4595-5745-A50F-D5EC13BAC60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850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D3C5-C513-43F4-A4D6-A2D1D297FCB0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E21A-0860-4DF1-B29E-E3B1418E0A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1E48223-F4A1-8F60-AA22-EBDDC42E5A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GB"/>
            </a:defPPr>
          </a:lstStyle>
          <a:p>
            <a:pPr algn="ctr" rtl="0"/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7D37D5C-3AEC-BF8C-8DD4-4B7F569B5123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4B053A-CAF8-DF97-BD72-A4DA6E275029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24B72E-9F13-C9C7-4309-EE5C54929E9B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06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B5ABD66-23DB-A7AE-959F-8E7F41C4D663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B6DE5F8-6F75-3A93-0611-68422360713F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544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D3C5-C513-43F4-A4D6-A2D1D297FCB0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BE21A-0860-4DF1-B29E-E3B1418E0AF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1354E6D-E1F4-CCC1-CE42-79916D03C780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C57BD73-8DAD-5762-B57C-177ECEEACFC6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DD70B2B-8865-ED69-4A28-D0CA2A9A67AD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D0CBC4-C858-C0CA-9E1D-CD160F7225C5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3929CA-6C7B-DB72-BEE4-FDB8F55ECE6C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54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F05990B-AF4C-9519-A6F0-BE82692B44BA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999DAD1-D84B-B7AD-DB4C-504FD8053F77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731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507596F-02AB-A4E5-F143-5FFE18AD5622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121299E-72D3-EEEE-3F97-7712E62332E6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4EE4586-4C79-5119-BDE2-BCF597364D7A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CBA7FD-E5FF-B1C6-6A82-7F67256D2B49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96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018244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445779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68A36D-AF15-F1E1-986B-F0D7E3F742E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4D0BAD-1DD1-B220-2346-E5AF5A26BB56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886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 descr="Shape, circle&#10;&#10;Description automatically generated">
            <a:extLst>
              <a:ext uri="{FF2B5EF4-FFF2-40B4-BE49-F238E27FC236}">
                <a16:creationId xmlns:a16="http://schemas.microsoft.com/office/drawing/2014/main" id="{F01D9B89-894B-7180-C557-5A13535EFF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177D80-60EE-6138-0958-F21CC6E3859E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70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182305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34262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105072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82299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4923360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4033054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9365511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4029176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GB" sz="1800"/>
            </a:lvl1pPr>
            <a:lvl2pPr marL="457200" indent="0">
              <a:buNone/>
              <a:defRPr lang="en-GB" sz="1400"/>
            </a:lvl2pPr>
            <a:lvl3pPr marL="914400" indent="0">
              <a:buNone/>
              <a:defRPr lang="en-GB" sz="1200"/>
            </a:lvl3pPr>
            <a:lvl4pPr marL="1371600" indent="0">
              <a:buNone/>
              <a:defRPr lang="en-GB" sz="1000"/>
            </a:lvl4pPr>
            <a:lvl5pPr marL="1828800" indent="0">
              <a:buNone/>
              <a:defRPr lang="en-GB" sz="1000"/>
            </a:lvl5pPr>
            <a:lvl6pPr marL="2286000" indent="0">
              <a:buNone/>
              <a:defRPr lang="en-GB" sz="1000"/>
            </a:lvl6pPr>
            <a:lvl7pPr marL="2743200" indent="0">
              <a:buNone/>
              <a:defRPr lang="en-GB" sz="1000"/>
            </a:lvl7pPr>
            <a:lvl8pPr marL="3200400" indent="0">
              <a:buNone/>
              <a:defRPr lang="en-GB" sz="1000"/>
            </a:lvl8pPr>
            <a:lvl9pPr marL="3657600" indent="0">
              <a:buNone/>
              <a:defRPr lang="en-GB" sz="10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GB" sz="3200"/>
            </a:lvl1pPr>
            <a:lvl2pPr marL="457200" indent="0">
              <a:buNone/>
              <a:defRPr lang="en-GB" sz="2800"/>
            </a:lvl2pPr>
            <a:lvl3pPr marL="914400" indent="0">
              <a:buNone/>
              <a:defRPr lang="en-GB" sz="2400"/>
            </a:lvl3pPr>
            <a:lvl4pPr marL="1371600" indent="0">
              <a:buNone/>
              <a:defRPr lang="en-GB" sz="2000"/>
            </a:lvl4pPr>
            <a:lvl5pPr marL="1828800" indent="0">
              <a:buNone/>
              <a:defRPr lang="en-GB" sz="2000"/>
            </a:lvl5pPr>
            <a:lvl6pPr marL="2286000" indent="0">
              <a:buNone/>
              <a:defRPr lang="en-GB" sz="2000"/>
            </a:lvl6pPr>
            <a:lvl7pPr marL="2743200" indent="0">
              <a:buNone/>
              <a:defRPr lang="en-GB" sz="2000"/>
            </a:lvl7pPr>
            <a:lvl8pPr marL="3200400" indent="0">
              <a:buNone/>
              <a:defRPr lang="en-GB" sz="2000"/>
            </a:lvl8pPr>
            <a:lvl9pPr marL="3657600" indent="0">
              <a:buNone/>
              <a:defRPr lang="en-GB" sz="2000"/>
            </a:lvl9pPr>
          </a:lstStyle>
          <a:p>
            <a:pPr rtl="0"/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n-GB">
                <a:solidFill>
                  <a:schemeClr val="accent1"/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rtlCol="0" anchor="b">
            <a:normAutofit/>
          </a:bodyPr>
          <a:lstStyle>
            <a:lvl1pPr marL="0" indent="0">
              <a:buNone/>
              <a:defRPr lang="en-GB"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lang="en-GB" sz="2000" b="1"/>
            </a:lvl2pPr>
            <a:lvl3pPr marL="914400" indent="0">
              <a:buNone/>
              <a:defRPr lang="en-GB" sz="1800" b="1"/>
            </a:lvl3pPr>
            <a:lvl4pPr marL="1371600" indent="0">
              <a:buNone/>
              <a:defRPr lang="en-GB" sz="1600" b="1"/>
            </a:lvl4pPr>
            <a:lvl5pPr marL="1828800" indent="0">
              <a:buNone/>
              <a:defRPr lang="en-GB" sz="1600" b="1"/>
            </a:lvl5pPr>
            <a:lvl6pPr marL="2286000" indent="0">
              <a:buNone/>
              <a:defRPr lang="en-GB" sz="1600" b="1"/>
            </a:lvl6pPr>
            <a:lvl7pPr marL="2743200" indent="0">
              <a:buNone/>
              <a:defRPr lang="en-GB" sz="1600" b="1"/>
            </a:lvl7pPr>
            <a:lvl8pPr marL="3200400" indent="0">
              <a:buNone/>
              <a:defRPr lang="en-GB" sz="1600" b="1"/>
            </a:lvl8pPr>
            <a:lvl9pPr marL="3657600" indent="0">
              <a:buNone/>
              <a:defRPr lang="en-GB"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 rtlCol="0"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lang="en-GB"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lang="en-GB"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lang="en-GB"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lang="en-GB" sz="1200"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 rtlCol="0"/>
          <a:lstStyle>
            <a:lvl1pPr>
              <a:defRPr lang="en-GB" sz="48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defPPr>
              <a:defRPr lang="en-GB"/>
            </a:def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</a:lstStyle>
          <a:p>
            <a:pPr lvl="0" rtl="0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n-GB"/>
            </a:defPPr>
          </a:lstStyle>
          <a:p>
            <a:pPr rtl="0"/>
            <a:fld id="{58FB4751-880F-D840-AAA9-3A15815CC99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rtlCol="0" anchor="b"/>
          <a:lstStyle>
            <a:lvl1pPr>
              <a:defRPr lang="en-GB" sz="4800"/>
            </a:lvl1pPr>
          </a:lstStyle>
          <a:p>
            <a:pPr rtl="0"/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8FB4751-880F-D840-AAA9-3A15815CC99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8C6F6-0466-4C35-F282-0D5DC6B628A0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3176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657" r:id="rId18"/>
    <p:sldLayoutId id="2147483653" r:id="rId19"/>
    <p:sldLayoutId id="2147483652" r:id="rId20"/>
    <p:sldLayoutId id="2147483655" r:id="rId2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obaxterm.mobatek.net/" TargetMode="External"/><Relationship Id="rId2" Type="http://schemas.openxmlformats.org/officeDocument/2006/relationships/hyperlink" Target="https://www.putty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hyperlink" Target="https://learn.microsoft.com/en-us/windows/ws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ccess.hpc.cam.ac.uk/projects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5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hyperlink" Target="https://vim.rtorr.com/" TargetMode="External"/><Relationship Id="rId7" Type="http://schemas.openxmlformats.org/officeDocument/2006/relationships/image" Target="../media/image24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www.nano-editor.org/dist/latest/cheatsheet.html" TargetMode="Externa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lurm.schedmd.com/scancel.html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SE-Cambridge/Intro-to-Daw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SE-Cambridge/Intro-to-Dawn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hpc.cam.ac.uk/hpc/user-guide/pvc.html#dawn-intel-gpu-pvc-nod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>
                <a:solidFill>
                  <a:schemeClr val="tx1">
                    <a:lumMod val="85000"/>
                    <a:lumOff val="15000"/>
                  </a:schemeClr>
                </a:solidFill>
              </a:rPr>
              <a:t>RSE DAWN TEAM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/>
              <a:t>Intro to Dawn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798A35-A371-708D-A8FB-CEB0FCCC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482" y="2797175"/>
            <a:ext cx="2108200" cy="2406650"/>
          </a:xfrm>
          <a:prstGeom prst="rect">
            <a:avLst/>
          </a:prstGeom>
        </p:spPr>
      </p:pic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C11B018-644B-DD2A-2F59-49062F50E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FF584FD-23D2-4ADF-8806-EEFA9167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2. Connecting to DAWN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64B22D-FBE1-CFE5-884B-6159D232074A}"/>
              </a:ext>
            </a:extLst>
          </p:cNvPr>
          <p:cNvSpPr txBox="1"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Connect using an SSH Client.</a:t>
            </a:r>
          </a:p>
          <a:p>
            <a:endParaRPr lang="en-US" sz="1600" dirty="0"/>
          </a:p>
          <a:p>
            <a:r>
              <a:rPr lang="en-US" sz="1600" dirty="0"/>
              <a:t>    Windows: </a:t>
            </a:r>
            <a:r>
              <a:rPr lang="en-US" sz="1600" b="1" dirty="0">
                <a:solidFill>
                  <a:srgbClr val="27C93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PuTTY</a:t>
            </a:r>
            <a:r>
              <a:rPr lang="en-US" sz="1600" dirty="0"/>
              <a:t> | </a:t>
            </a:r>
            <a:r>
              <a:rPr lang="en-US" sz="1600" b="1" dirty="0">
                <a:solidFill>
                  <a:srgbClr val="27C93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MobaXterm</a:t>
            </a:r>
            <a:r>
              <a:rPr lang="en-US" sz="1600" b="1" dirty="0">
                <a:solidFill>
                  <a:srgbClr val="27C93F"/>
                </a:solidFill>
              </a:rPr>
              <a:t> </a:t>
            </a:r>
            <a:r>
              <a:rPr lang="en-US" sz="1600" b="1" dirty="0"/>
              <a:t>|</a:t>
            </a:r>
            <a:r>
              <a:rPr lang="en-US" sz="1600" b="1" dirty="0">
                <a:solidFill>
                  <a:srgbClr val="27C93F"/>
                </a:solidFill>
              </a:rPr>
              <a:t> </a:t>
            </a:r>
            <a:r>
              <a:rPr lang="en-US" sz="1600" b="1" dirty="0">
                <a:solidFill>
                  <a:srgbClr val="27C93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Windows Subsystem for Linux</a:t>
            </a:r>
            <a:endParaRPr lang="en-US" sz="1600" b="1" dirty="0">
              <a:solidFill>
                <a:srgbClr val="27C93F"/>
              </a:solidFill>
            </a:endParaRPr>
          </a:p>
          <a:p>
            <a:r>
              <a:rPr lang="en-US" sz="1600" dirty="0"/>
              <a:t>    MacOS or Linux: Terminal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500" dirty="0"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65058F8F-80B9-4060-2AD7-1D4F3C32B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1A3F2-51D9-7FF5-AC66-75157C987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440" y="4030057"/>
            <a:ext cx="7928284" cy="26957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DE0F5F-DCFF-CF3D-D4D3-43ED9C0B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300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2CE40-856C-CDFB-3E42-2262E013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31EDB2D-D02E-0237-319E-30C82D360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74A60-1178-EEC9-B337-35B7F7536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F484B4D-FF38-5462-B264-1EBF1FB08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B9CD0D8-F3BF-22FF-1403-AFCEE3A3D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8CDCCC-21BF-A65B-3639-B8F12A5B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Projects and QoS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724FC1D0-0A79-54DC-1E07-64F31F9A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23DC4C0-644F-7DD0-A27F-F593EDA36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162"/>
            <a:ext cx="10515600" cy="78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Once you are connected to a login node, run </a:t>
            </a:r>
            <a:r>
              <a:rPr lang="en-US" sz="26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mybalance</a:t>
            </a:r>
            <a:endParaRPr lang="en-US" sz="26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61E1098-0D2D-BBF8-234D-335431DF0DC0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to see information about your DAWN projects and available QoS.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information is more detailed at      </a:t>
            </a:r>
            <a:r>
              <a:rPr lang="en-US" dirty="0">
                <a:hlinkClick r:id="rId3"/>
              </a:rPr>
              <a:t>https://access.hpc.cam.ac.uk/projects/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9BB582-F478-1CE4-CC89-836CA4121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31" y="3432282"/>
            <a:ext cx="7783011" cy="943107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E5026BF-AE23-D7D4-7928-0C31632C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922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C800E-5A44-BA0F-DB0F-9676A7E25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5C54E8D7-BD7C-439E-5EFF-A729F126E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6572" y="2097791"/>
            <a:ext cx="1800000" cy="1800000"/>
          </a:xfrm>
          <a:prstGeom prst="rect">
            <a:avLst/>
          </a:prstGeom>
        </p:spPr>
      </p:pic>
      <p:pic>
        <p:nvPicPr>
          <p:cNvPr id="8" name="Graphic 7" descr="Computer with solid fill">
            <a:extLst>
              <a:ext uri="{FF2B5EF4-FFF2-40B4-BE49-F238E27FC236}">
                <a16:creationId xmlns:a16="http://schemas.microsoft.com/office/drawing/2014/main" id="{A3595FE9-49A1-80EF-9C5F-E7D62DDAC8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2858" y="2097791"/>
            <a:ext cx="1800000" cy="1800000"/>
          </a:xfrm>
          <a:prstGeom prst="rect">
            <a:avLst/>
          </a:prstGeom>
        </p:spPr>
      </p:pic>
      <p:pic>
        <p:nvPicPr>
          <p:cNvPr id="9" name="Graphic 8" descr="Server with solid fill">
            <a:extLst>
              <a:ext uri="{FF2B5EF4-FFF2-40B4-BE49-F238E27FC236}">
                <a16:creationId xmlns:a16="http://schemas.microsoft.com/office/drawing/2014/main" id="{EEFB4C61-6EDD-586F-31D7-1FD429AF5F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53873" y="2277791"/>
            <a:ext cx="1440000" cy="1440000"/>
          </a:xfrm>
          <a:prstGeom prst="rect">
            <a:avLst/>
          </a:prstGeom>
        </p:spPr>
      </p:pic>
      <p:pic>
        <p:nvPicPr>
          <p:cNvPr id="10" name="Graphic 9" descr="Database with solid fill">
            <a:extLst>
              <a:ext uri="{FF2B5EF4-FFF2-40B4-BE49-F238E27FC236}">
                <a16:creationId xmlns:a16="http://schemas.microsoft.com/office/drawing/2014/main" id="{09DE5574-F8E1-D86E-70C1-FB14AEA80B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12355" y="4900832"/>
            <a:ext cx="1800000" cy="1800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8524FE-0927-BD0E-F22E-55CFB1D28CA0}"/>
              </a:ext>
            </a:extLst>
          </p:cNvPr>
          <p:cNvCxnSpPr>
            <a:cxnSpLocks/>
          </p:cNvCxnSpPr>
          <p:nvPr/>
        </p:nvCxnSpPr>
        <p:spPr>
          <a:xfrm>
            <a:off x="5825073" y="2997791"/>
            <a:ext cx="1696585" cy="0"/>
          </a:xfrm>
          <a:prstGeom prst="straightConnector1">
            <a:avLst/>
          </a:prstGeom>
          <a:ln w="254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6ECE1F3-CA8D-6CFF-255E-65C08E27D4EF}"/>
              </a:ext>
            </a:extLst>
          </p:cNvPr>
          <p:cNvSpPr/>
          <p:nvPr/>
        </p:nvSpPr>
        <p:spPr>
          <a:xfrm>
            <a:off x="6188540" y="2088212"/>
            <a:ext cx="1079271" cy="33745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QUEUE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5D5527-A830-3A15-7575-9B29E3EF265D}"/>
              </a:ext>
            </a:extLst>
          </p:cNvPr>
          <p:cNvSpPr/>
          <p:nvPr/>
        </p:nvSpPr>
        <p:spPr>
          <a:xfrm>
            <a:off x="7521658" y="1462446"/>
            <a:ext cx="1853740" cy="8512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PVC COMPUTE NODE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e.g. pvc-s-144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1A9087-575B-E681-198C-E8FB0736C2E6}"/>
              </a:ext>
            </a:extLst>
          </p:cNvPr>
          <p:cNvCxnSpPr>
            <a:cxnSpLocks/>
          </p:cNvCxnSpPr>
          <p:nvPr/>
        </p:nvCxnSpPr>
        <p:spPr>
          <a:xfrm rot="2700000">
            <a:off x="4476672" y="4547154"/>
            <a:ext cx="1696585" cy="0"/>
          </a:xfrm>
          <a:prstGeom prst="straightConnector1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71CC15-0D4F-DB72-CE27-1E828A264788}"/>
              </a:ext>
            </a:extLst>
          </p:cNvPr>
          <p:cNvCxnSpPr>
            <a:cxnSpLocks/>
          </p:cNvCxnSpPr>
          <p:nvPr/>
        </p:nvCxnSpPr>
        <p:spPr>
          <a:xfrm rot="8100000">
            <a:off x="7142550" y="4492606"/>
            <a:ext cx="1696585" cy="0"/>
          </a:xfrm>
          <a:prstGeom prst="straightConnector1">
            <a:avLst/>
          </a:prstGeom>
          <a:ln w="2540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C9BC0C03-D1C6-5DA4-3785-AF6778033FDC}"/>
              </a:ext>
            </a:extLst>
          </p:cNvPr>
          <p:cNvSpPr/>
          <p:nvPr/>
        </p:nvSpPr>
        <p:spPr>
          <a:xfrm>
            <a:off x="6012521" y="3982146"/>
            <a:ext cx="1255290" cy="106386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RDS STORAGE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e.g. ~/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rds</a:t>
            </a:r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A5B60D-6E13-7FBC-C44F-69FF723D7C54}"/>
              </a:ext>
            </a:extLst>
          </p:cNvPr>
          <p:cNvGrpSpPr/>
          <p:nvPr/>
        </p:nvGrpSpPr>
        <p:grpSpPr>
          <a:xfrm>
            <a:off x="6303753" y="2547791"/>
            <a:ext cx="1008682" cy="900000"/>
            <a:chOff x="6983960" y="2278799"/>
            <a:chExt cx="554732" cy="900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61A8FCC-8A13-D816-1CC4-623167B496F4}"/>
                </a:ext>
              </a:extLst>
            </p:cNvPr>
            <p:cNvSpPr/>
            <p:nvPr/>
          </p:nvSpPr>
          <p:spPr>
            <a:xfrm>
              <a:off x="6983960" y="2278799"/>
              <a:ext cx="435429" cy="900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14D3CFC-9915-6784-0EA2-6737DE573451}"/>
                </a:ext>
              </a:extLst>
            </p:cNvPr>
            <p:cNvSpPr txBox="1"/>
            <p:nvPr/>
          </p:nvSpPr>
          <p:spPr>
            <a:xfrm>
              <a:off x="6997014" y="2516529"/>
              <a:ext cx="54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SLURM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1FA472C-92B0-87E9-EE02-B6D02049B1B7}"/>
              </a:ext>
            </a:extLst>
          </p:cNvPr>
          <p:cNvGrpSpPr/>
          <p:nvPr/>
        </p:nvGrpSpPr>
        <p:grpSpPr>
          <a:xfrm>
            <a:off x="1962500" y="1501012"/>
            <a:ext cx="4071792" cy="2781712"/>
            <a:chOff x="2855499" y="851020"/>
            <a:chExt cx="4071792" cy="278171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2C13D53-AE27-BF5E-5B75-534E6C15B89E}"/>
                </a:ext>
              </a:extLst>
            </p:cNvPr>
            <p:cNvSpPr/>
            <p:nvPr/>
          </p:nvSpPr>
          <p:spPr>
            <a:xfrm>
              <a:off x="4369148" y="851020"/>
              <a:ext cx="2558143" cy="2415466"/>
            </a:xfrm>
            <a:prstGeom prst="ellipse">
              <a:avLst/>
            </a:prstGeom>
            <a:noFill/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60FDE00-0B2B-60B1-EAED-3D6D72BD0556}"/>
                </a:ext>
              </a:extLst>
            </p:cNvPr>
            <p:cNvSpPr txBox="1"/>
            <p:nvPr/>
          </p:nvSpPr>
          <p:spPr>
            <a:xfrm>
              <a:off x="2855499" y="3263400"/>
              <a:ext cx="18070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you are here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153BAE-D6BC-3122-1FDB-A5177158BFC6}"/>
              </a:ext>
            </a:extLst>
          </p:cNvPr>
          <p:cNvGrpSpPr/>
          <p:nvPr/>
        </p:nvGrpSpPr>
        <p:grpSpPr>
          <a:xfrm>
            <a:off x="48460" y="271033"/>
            <a:ext cx="2817555" cy="611442"/>
            <a:chOff x="710422" y="288644"/>
            <a:chExt cx="2817555" cy="61144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ADE8200-F9FD-098F-4C62-90762C0FA485}"/>
                </a:ext>
              </a:extLst>
            </p:cNvPr>
            <p:cNvSpPr txBox="1"/>
            <p:nvPr/>
          </p:nvSpPr>
          <p:spPr>
            <a:xfrm>
              <a:off x="996972" y="288644"/>
              <a:ext cx="2283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Local: Your computer</a:t>
              </a:r>
            </a:p>
          </p:txBody>
        </p:sp>
        <p:sp>
          <p:nvSpPr>
            <p:cNvPr id="37" name="Left Brace 36">
              <a:extLst>
                <a:ext uri="{FF2B5EF4-FFF2-40B4-BE49-F238E27FC236}">
                  <a16:creationId xmlns:a16="http://schemas.microsoft.com/office/drawing/2014/main" id="{5DD42398-F556-C4F2-A502-31C79D2288F3}"/>
                </a:ext>
              </a:extLst>
            </p:cNvPr>
            <p:cNvSpPr/>
            <p:nvPr/>
          </p:nvSpPr>
          <p:spPr>
            <a:xfrm rot="5400000">
              <a:off x="2008109" y="-619782"/>
              <a:ext cx="222181" cy="2817555"/>
            </a:xfrm>
            <a:prstGeom prst="leftBrace">
              <a:avLst/>
            </a:prstGeom>
            <a:noFill/>
            <a:ln w="28575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272955 w 272955"/>
                        <a:gd name="connsiteY0" fmla="*/ 1981584 h 1981584"/>
                        <a:gd name="connsiteX1" fmla="*/ 136477 w 272955"/>
                        <a:gd name="connsiteY1" fmla="*/ 1958839 h 1981584"/>
                        <a:gd name="connsiteX2" fmla="*/ 136478 w 272955"/>
                        <a:gd name="connsiteY2" fmla="*/ 1013537 h 1981584"/>
                        <a:gd name="connsiteX3" fmla="*/ 0 w 272955"/>
                        <a:gd name="connsiteY3" fmla="*/ 990792 h 1981584"/>
                        <a:gd name="connsiteX4" fmla="*/ 136478 w 272955"/>
                        <a:gd name="connsiteY4" fmla="*/ 968047 h 1981584"/>
                        <a:gd name="connsiteX5" fmla="*/ 136478 w 272955"/>
                        <a:gd name="connsiteY5" fmla="*/ 514302 h 1981584"/>
                        <a:gd name="connsiteX6" fmla="*/ 136478 w 272955"/>
                        <a:gd name="connsiteY6" fmla="*/ 22745 h 1981584"/>
                        <a:gd name="connsiteX7" fmla="*/ 272956 w 272955"/>
                        <a:gd name="connsiteY7" fmla="*/ 0 h 1981584"/>
                        <a:gd name="connsiteX8" fmla="*/ 272955 w 272955"/>
                        <a:gd name="connsiteY8" fmla="*/ 1981584 h 1981584"/>
                        <a:gd name="connsiteX0" fmla="*/ 272955 w 272955"/>
                        <a:gd name="connsiteY0" fmla="*/ 1981584 h 1981584"/>
                        <a:gd name="connsiteX1" fmla="*/ 136477 w 272955"/>
                        <a:gd name="connsiteY1" fmla="*/ 1958839 h 1981584"/>
                        <a:gd name="connsiteX2" fmla="*/ 136478 w 272955"/>
                        <a:gd name="connsiteY2" fmla="*/ 1013537 h 1981584"/>
                        <a:gd name="connsiteX3" fmla="*/ 0 w 272955"/>
                        <a:gd name="connsiteY3" fmla="*/ 990792 h 1981584"/>
                        <a:gd name="connsiteX4" fmla="*/ 136478 w 272955"/>
                        <a:gd name="connsiteY4" fmla="*/ 968047 h 1981584"/>
                        <a:gd name="connsiteX5" fmla="*/ 136478 w 272955"/>
                        <a:gd name="connsiteY5" fmla="*/ 514302 h 1981584"/>
                        <a:gd name="connsiteX6" fmla="*/ 136478 w 272955"/>
                        <a:gd name="connsiteY6" fmla="*/ 22745 h 1981584"/>
                        <a:gd name="connsiteX7" fmla="*/ 272956 w 272955"/>
                        <a:gd name="connsiteY7" fmla="*/ 0 h 198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72955" h="1981584" stroke="0" extrusionOk="0">
                          <a:moveTo>
                            <a:pt x="272955" y="1981584"/>
                          </a:moveTo>
                          <a:cubicBezTo>
                            <a:pt x="196731" y="1981060"/>
                            <a:pt x="134841" y="1972015"/>
                            <a:pt x="136477" y="1958839"/>
                          </a:cubicBezTo>
                          <a:cubicBezTo>
                            <a:pt x="148291" y="1646225"/>
                            <a:pt x="124581" y="1329016"/>
                            <a:pt x="136478" y="1013537"/>
                          </a:cubicBezTo>
                          <a:cubicBezTo>
                            <a:pt x="131241" y="1006089"/>
                            <a:pt x="74119" y="997735"/>
                            <a:pt x="0" y="990792"/>
                          </a:cubicBezTo>
                          <a:cubicBezTo>
                            <a:pt x="72809" y="989388"/>
                            <a:pt x="137359" y="981030"/>
                            <a:pt x="136478" y="968047"/>
                          </a:cubicBezTo>
                          <a:cubicBezTo>
                            <a:pt x="158112" y="875803"/>
                            <a:pt x="120580" y="679481"/>
                            <a:pt x="136478" y="514302"/>
                          </a:cubicBezTo>
                          <a:cubicBezTo>
                            <a:pt x="152376" y="349124"/>
                            <a:pt x="119410" y="223391"/>
                            <a:pt x="136478" y="22745"/>
                          </a:cubicBezTo>
                          <a:cubicBezTo>
                            <a:pt x="135691" y="2682"/>
                            <a:pt x="192475" y="7096"/>
                            <a:pt x="272956" y="0"/>
                          </a:cubicBezTo>
                          <a:cubicBezTo>
                            <a:pt x="402421" y="733008"/>
                            <a:pt x="430837" y="1359017"/>
                            <a:pt x="272955" y="1981584"/>
                          </a:cubicBezTo>
                          <a:close/>
                        </a:path>
                        <a:path w="272955" h="1981584" fill="none" extrusionOk="0">
                          <a:moveTo>
                            <a:pt x="272955" y="1981584"/>
                          </a:moveTo>
                          <a:cubicBezTo>
                            <a:pt x="197247" y="1981530"/>
                            <a:pt x="138670" y="1973194"/>
                            <a:pt x="136477" y="1958839"/>
                          </a:cubicBezTo>
                          <a:cubicBezTo>
                            <a:pt x="168095" y="1690804"/>
                            <a:pt x="141465" y="1380294"/>
                            <a:pt x="136478" y="1013537"/>
                          </a:cubicBezTo>
                          <a:cubicBezTo>
                            <a:pt x="140465" y="1007117"/>
                            <a:pt x="84503" y="1001973"/>
                            <a:pt x="0" y="990792"/>
                          </a:cubicBezTo>
                          <a:cubicBezTo>
                            <a:pt x="77166" y="989224"/>
                            <a:pt x="136762" y="979271"/>
                            <a:pt x="136478" y="968047"/>
                          </a:cubicBezTo>
                          <a:cubicBezTo>
                            <a:pt x="142642" y="856497"/>
                            <a:pt x="149902" y="641825"/>
                            <a:pt x="136478" y="514302"/>
                          </a:cubicBezTo>
                          <a:cubicBezTo>
                            <a:pt x="123054" y="386779"/>
                            <a:pt x="157464" y="260211"/>
                            <a:pt x="136478" y="22745"/>
                          </a:cubicBezTo>
                          <a:cubicBezTo>
                            <a:pt x="137472" y="-3265"/>
                            <a:pt x="196061" y="887"/>
                            <a:pt x="272956" y="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D83C67-84C1-6E80-B706-895C03BB03C9}"/>
              </a:ext>
            </a:extLst>
          </p:cNvPr>
          <p:cNvGrpSpPr/>
          <p:nvPr/>
        </p:nvGrpSpPr>
        <p:grpSpPr>
          <a:xfrm>
            <a:off x="3134714" y="271033"/>
            <a:ext cx="6775768" cy="616789"/>
            <a:chOff x="3796676" y="288644"/>
            <a:chExt cx="6775768" cy="61678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ECA2C6-E456-9701-573B-B74C320A325D}"/>
                </a:ext>
              </a:extLst>
            </p:cNvPr>
            <p:cNvSpPr txBox="1"/>
            <p:nvPr/>
          </p:nvSpPr>
          <p:spPr>
            <a:xfrm>
              <a:off x="6223325" y="288644"/>
              <a:ext cx="3975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Remote: DAWN SUPERCOMPUTER </a:t>
              </a:r>
            </a:p>
          </p:txBody>
        </p:sp>
        <p:sp>
          <p:nvSpPr>
            <p:cNvPr id="40" name="Left Brace 39">
              <a:extLst>
                <a:ext uri="{FF2B5EF4-FFF2-40B4-BE49-F238E27FC236}">
                  <a16:creationId xmlns:a16="http://schemas.microsoft.com/office/drawing/2014/main" id="{DEDB8E48-4551-3EEE-9F73-AA2DF4A70DA2}"/>
                </a:ext>
              </a:extLst>
            </p:cNvPr>
            <p:cNvSpPr/>
            <p:nvPr/>
          </p:nvSpPr>
          <p:spPr>
            <a:xfrm rot="5400000">
              <a:off x="7063505" y="-2603506"/>
              <a:ext cx="242110" cy="6775768"/>
            </a:xfrm>
            <a:prstGeom prst="leftBrace">
              <a:avLst/>
            </a:prstGeom>
            <a:noFill/>
            <a:ln w="28575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272955 w 272955"/>
                        <a:gd name="connsiteY0" fmla="*/ 1981584 h 1981584"/>
                        <a:gd name="connsiteX1" fmla="*/ 136477 w 272955"/>
                        <a:gd name="connsiteY1" fmla="*/ 1958839 h 1981584"/>
                        <a:gd name="connsiteX2" fmla="*/ 136478 w 272955"/>
                        <a:gd name="connsiteY2" fmla="*/ 1013537 h 1981584"/>
                        <a:gd name="connsiteX3" fmla="*/ 0 w 272955"/>
                        <a:gd name="connsiteY3" fmla="*/ 990792 h 1981584"/>
                        <a:gd name="connsiteX4" fmla="*/ 136478 w 272955"/>
                        <a:gd name="connsiteY4" fmla="*/ 968047 h 1981584"/>
                        <a:gd name="connsiteX5" fmla="*/ 136478 w 272955"/>
                        <a:gd name="connsiteY5" fmla="*/ 514302 h 1981584"/>
                        <a:gd name="connsiteX6" fmla="*/ 136478 w 272955"/>
                        <a:gd name="connsiteY6" fmla="*/ 22745 h 1981584"/>
                        <a:gd name="connsiteX7" fmla="*/ 272956 w 272955"/>
                        <a:gd name="connsiteY7" fmla="*/ 0 h 1981584"/>
                        <a:gd name="connsiteX8" fmla="*/ 272955 w 272955"/>
                        <a:gd name="connsiteY8" fmla="*/ 1981584 h 1981584"/>
                        <a:gd name="connsiteX0" fmla="*/ 272955 w 272955"/>
                        <a:gd name="connsiteY0" fmla="*/ 1981584 h 1981584"/>
                        <a:gd name="connsiteX1" fmla="*/ 136477 w 272955"/>
                        <a:gd name="connsiteY1" fmla="*/ 1958839 h 1981584"/>
                        <a:gd name="connsiteX2" fmla="*/ 136478 w 272955"/>
                        <a:gd name="connsiteY2" fmla="*/ 1013537 h 1981584"/>
                        <a:gd name="connsiteX3" fmla="*/ 0 w 272955"/>
                        <a:gd name="connsiteY3" fmla="*/ 990792 h 1981584"/>
                        <a:gd name="connsiteX4" fmla="*/ 136478 w 272955"/>
                        <a:gd name="connsiteY4" fmla="*/ 968047 h 1981584"/>
                        <a:gd name="connsiteX5" fmla="*/ 136478 w 272955"/>
                        <a:gd name="connsiteY5" fmla="*/ 514302 h 1981584"/>
                        <a:gd name="connsiteX6" fmla="*/ 136478 w 272955"/>
                        <a:gd name="connsiteY6" fmla="*/ 22745 h 1981584"/>
                        <a:gd name="connsiteX7" fmla="*/ 272956 w 272955"/>
                        <a:gd name="connsiteY7" fmla="*/ 0 h 198158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72955" h="1981584" stroke="0" extrusionOk="0">
                          <a:moveTo>
                            <a:pt x="272955" y="1981584"/>
                          </a:moveTo>
                          <a:cubicBezTo>
                            <a:pt x="196731" y="1981060"/>
                            <a:pt x="134841" y="1972015"/>
                            <a:pt x="136477" y="1958839"/>
                          </a:cubicBezTo>
                          <a:cubicBezTo>
                            <a:pt x="148291" y="1646225"/>
                            <a:pt x="124581" y="1329016"/>
                            <a:pt x="136478" y="1013537"/>
                          </a:cubicBezTo>
                          <a:cubicBezTo>
                            <a:pt x="131241" y="1006089"/>
                            <a:pt x="74119" y="997735"/>
                            <a:pt x="0" y="990792"/>
                          </a:cubicBezTo>
                          <a:cubicBezTo>
                            <a:pt x="72809" y="989388"/>
                            <a:pt x="137359" y="981030"/>
                            <a:pt x="136478" y="968047"/>
                          </a:cubicBezTo>
                          <a:cubicBezTo>
                            <a:pt x="158112" y="875803"/>
                            <a:pt x="120580" y="679481"/>
                            <a:pt x="136478" y="514302"/>
                          </a:cubicBezTo>
                          <a:cubicBezTo>
                            <a:pt x="152376" y="349124"/>
                            <a:pt x="119410" y="223391"/>
                            <a:pt x="136478" y="22745"/>
                          </a:cubicBezTo>
                          <a:cubicBezTo>
                            <a:pt x="135691" y="2682"/>
                            <a:pt x="192475" y="7096"/>
                            <a:pt x="272956" y="0"/>
                          </a:cubicBezTo>
                          <a:cubicBezTo>
                            <a:pt x="402421" y="733008"/>
                            <a:pt x="430837" y="1359017"/>
                            <a:pt x="272955" y="1981584"/>
                          </a:cubicBezTo>
                          <a:close/>
                        </a:path>
                        <a:path w="272955" h="1981584" fill="none" extrusionOk="0">
                          <a:moveTo>
                            <a:pt x="272955" y="1981584"/>
                          </a:moveTo>
                          <a:cubicBezTo>
                            <a:pt x="197247" y="1981530"/>
                            <a:pt x="138670" y="1973194"/>
                            <a:pt x="136477" y="1958839"/>
                          </a:cubicBezTo>
                          <a:cubicBezTo>
                            <a:pt x="168095" y="1690804"/>
                            <a:pt x="141465" y="1380294"/>
                            <a:pt x="136478" y="1013537"/>
                          </a:cubicBezTo>
                          <a:cubicBezTo>
                            <a:pt x="140465" y="1007117"/>
                            <a:pt x="84503" y="1001973"/>
                            <a:pt x="0" y="990792"/>
                          </a:cubicBezTo>
                          <a:cubicBezTo>
                            <a:pt x="77166" y="989224"/>
                            <a:pt x="136762" y="979271"/>
                            <a:pt x="136478" y="968047"/>
                          </a:cubicBezTo>
                          <a:cubicBezTo>
                            <a:pt x="142642" y="856497"/>
                            <a:pt x="149902" y="641825"/>
                            <a:pt x="136478" y="514302"/>
                          </a:cubicBezTo>
                          <a:cubicBezTo>
                            <a:pt x="123054" y="386779"/>
                            <a:pt x="157464" y="260211"/>
                            <a:pt x="136478" y="22745"/>
                          </a:cubicBezTo>
                          <a:cubicBezTo>
                            <a:pt x="137472" y="-3265"/>
                            <a:pt x="196061" y="887"/>
                            <a:pt x="272956" y="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4D69156-E888-5377-3E41-5048BB4DBE6C}"/>
              </a:ext>
            </a:extLst>
          </p:cNvPr>
          <p:cNvSpPr/>
          <p:nvPr/>
        </p:nvSpPr>
        <p:spPr>
          <a:xfrm>
            <a:off x="2508786" y="2785520"/>
            <a:ext cx="1251857" cy="42454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SSH</a:t>
            </a:r>
          </a:p>
        </p:txBody>
      </p:sp>
      <p:sp>
        <p:nvSpPr>
          <p:cNvPr id="44" name="Title 3">
            <a:extLst>
              <a:ext uri="{FF2B5EF4-FFF2-40B4-BE49-F238E27FC236}">
                <a16:creationId xmlns:a16="http://schemas.microsoft.com/office/drawing/2014/main" id="{169FE63B-84B4-B31E-2434-D72DC0ED5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114096" y="3329724"/>
            <a:ext cx="5341687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System Overview </a:t>
            </a:r>
            <a:endParaRPr lang="en-US" b="0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0DD5054-9FD3-9468-0C05-CCC0D9112527}"/>
              </a:ext>
            </a:extLst>
          </p:cNvPr>
          <p:cNvSpPr/>
          <p:nvPr/>
        </p:nvSpPr>
        <p:spPr>
          <a:xfrm rot="19461365">
            <a:off x="3576362" y="3422064"/>
            <a:ext cx="586927" cy="7609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FF4B90-5507-B15A-A0EA-64449553074C}"/>
              </a:ext>
            </a:extLst>
          </p:cNvPr>
          <p:cNvSpPr/>
          <p:nvPr/>
        </p:nvSpPr>
        <p:spPr>
          <a:xfrm>
            <a:off x="3867111" y="1315154"/>
            <a:ext cx="1845244" cy="7331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LOGIN NODE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e.g. login-s-1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EC2372-04EA-F48A-0F3C-5F86B5F4576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5909" y="4324994"/>
            <a:ext cx="2177609" cy="54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23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6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AB4F3-F9D5-EB1B-6B2D-1A5BF396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9D2475-C295-0710-650B-F1A5D6853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839DA-DE3A-CEFF-6A93-2D3C998E6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6A36EA0-4919-718E-5BC5-EB87FE123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0C2615B-830C-38FF-1BC7-2A896B36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32C533-4281-A094-80AB-DA01D3FD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Your Home folder:50GB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38E64248-68C0-B016-3059-6B721E0B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A226FBCE-0DCD-8C43-5F8E-4A49E7095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162"/>
            <a:ext cx="10515600" cy="78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Once you are connected to a login node, run </a:t>
            </a:r>
            <a:r>
              <a:rPr lang="en-US" sz="26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quota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FB1367D-DF31-BDF5-D62C-188E80DAD259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6326D10-29EC-2918-84A1-9ECA31F6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FD817-28BE-B9E8-ABE8-9623D9754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21" y="2893296"/>
            <a:ext cx="11125536" cy="16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03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F85E6-7CBC-9F0F-1403-6566C7E2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FD262E-D956-3A23-4678-A2CE868E1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8894DB-BE77-100B-6291-08654106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0729A1E0-9884-2FF2-F3AA-0AAC4CFE0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288117B-2D76-CCAB-DC4F-47ED5F21D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9FA5FE-0F08-2DD2-90A2-B5DE7404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Your Project folder: 2TB&gt;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9DF56183-C48A-961B-079B-FA17DFF6E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2C2E99A8-B863-C051-56A6-581ED926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162"/>
            <a:ext cx="10515600" cy="78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Once you are connected to a login node, run </a:t>
            </a:r>
            <a:r>
              <a:rPr lang="en-US" sz="26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quota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CBD6D39-E5DD-17A6-6760-23E5EB2F2B7B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4D36F8B-0541-1AEC-69AE-F1D1A6EB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F81C9-79B0-B2A2-9106-200385114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21" y="2893296"/>
            <a:ext cx="11125536" cy="16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03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F7695D-7C86-AA16-8D1F-1A64C67E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E64F2A-1E29-30A4-28E5-F15E61B92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89F5E8-F19E-D9F4-E438-F0CFF7EE5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C9D9BBD2-94B6-89A6-92B8-885C19695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6728BA1-0B07-C1B0-5538-F447667F2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FBC8D3-EBF0-161C-DCAE-8152FB4B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Choose your editor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CD1783B-674C-0A13-FA72-D8A3B98A5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214CCA3-39D7-9CAF-10F6-E5A2A206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162"/>
            <a:ext cx="10515600" cy="7869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Once you are connected to a login node, run your editor</a:t>
            </a:r>
            <a:endParaRPr lang="en-US" sz="26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C8E3747-1FDD-60AD-6EF6-C54B7F3C7008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526FFFB-9BC0-622E-1C5B-571A71635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5A446-387E-3C3C-3956-A303DD703425}"/>
              </a:ext>
            </a:extLst>
          </p:cNvPr>
          <p:cNvSpPr txBox="1">
            <a:spLocks/>
          </p:cNvSpPr>
          <p:nvPr/>
        </p:nvSpPr>
        <p:spPr>
          <a:xfrm>
            <a:off x="5845030" y="3429000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solidFill>
                  <a:srgbClr val="27C93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vim</a:t>
            </a:r>
            <a:endParaRPr lang="en-US" dirty="0">
              <a:solidFill>
                <a:srgbClr val="27C93F"/>
              </a:solidFill>
            </a:endParaRPr>
          </a:p>
        </p:txBody>
      </p:sp>
      <p:pic>
        <p:nvPicPr>
          <p:cNvPr id="10" name="Content Placeholder 9" descr="Graphical user interface&#10;&#10;Description automatically generated">
            <a:extLst>
              <a:ext uri="{FF2B5EF4-FFF2-40B4-BE49-F238E27FC236}">
                <a16:creationId xmlns:a16="http://schemas.microsoft.com/office/drawing/2014/main" id="{083A4E53-2C5C-FB4A-0F4F-40D7294E8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068" y="2942963"/>
            <a:ext cx="2880000" cy="2884800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DF946161-66FD-8A9F-B507-5D0D76E779E0}"/>
              </a:ext>
            </a:extLst>
          </p:cNvPr>
          <p:cNvSpPr txBox="1">
            <a:spLocks/>
          </p:cNvSpPr>
          <p:nvPr/>
        </p:nvSpPr>
        <p:spPr>
          <a:xfrm>
            <a:off x="406132" y="2821360"/>
            <a:ext cx="5183188" cy="8239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>
                <a:solidFill>
                  <a:srgbClr val="27C93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nano</a:t>
            </a:r>
            <a:endParaRPr lang="en-US" dirty="0">
              <a:solidFill>
                <a:srgbClr val="27C93F"/>
              </a:solidFill>
            </a:endParaRPr>
          </a:p>
        </p:txBody>
      </p:sp>
      <p:pic>
        <p:nvPicPr>
          <p:cNvPr id="12" name="Content Placeholder 11" descr="A picture containing text&#10;&#10;Description automatically generated">
            <a:extLst>
              <a:ext uri="{FF2B5EF4-FFF2-40B4-BE49-F238E27FC236}">
                <a16:creationId xmlns:a16="http://schemas.microsoft.com/office/drawing/2014/main" id="{674B2091-9165-BFAA-9731-D48864E57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4780" y="2868272"/>
            <a:ext cx="2880000" cy="288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4A1A1B-F973-01FD-02C5-1F67B76A7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2" y="6359346"/>
            <a:ext cx="6306430" cy="2476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66567C0-A5C4-0389-D073-BA1169B3D2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5044" y="5955941"/>
            <a:ext cx="4235668" cy="1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89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9D14-1F19-3F3E-2505-7FC92C3A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F7FD63-4D2B-2EF8-E08F-E9F78CA51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33649C-C571-2920-6A4E-32CF5D0DE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70B3A74-BC07-9A88-07E2-E353CE440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4B124D5-DE15-86ED-1AAD-378552C08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348850-461B-37CF-C180-AA79AABC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your job script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49D69439-56F7-6F68-C900-87D454E8C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202E98C-75AF-11E3-E993-4B690F12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162"/>
            <a:ext cx="10515600" cy="7869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6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16BABBE-D8CA-CD0D-1160-5D85ABB245F5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C4365B6-4222-E5A2-78C2-BDF957E8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8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65659A-8E37-0DB0-6A1C-EA17C869E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18" y="1798670"/>
            <a:ext cx="7484471" cy="476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47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1F66B-B414-4145-17A6-9A4E3A9B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E053C2E-7C68-39B6-68D8-10E964747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82743B-2A1B-BC1A-DB5A-36815BD59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4C8EDC2-45A6-3AD5-7639-7A2F6A8B2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A0BE3048-6A3E-EC9E-AC06-72DBE2EE63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8F7B9E-6D1D-AD0E-B5A8-40E4A84B2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</a:t>
            </a:r>
            <a:r>
              <a:rPr lang="en-US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ubmit your job script</a:t>
            </a: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718B138D-0FDE-11ED-5AFA-970399AA5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353C178-2EE7-89C6-94E2-FCB7B40A3078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D4B9111-F111-F2BA-88CD-8524D4F3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9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0C6F7C3-399E-040B-1E65-C70A61251010}"/>
              </a:ext>
            </a:extLst>
          </p:cNvPr>
          <p:cNvSpPr txBox="1">
            <a:spLocks/>
          </p:cNvSpPr>
          <p:nvPr/>
        </p:nvSpPr>
        <p:spPr>
          <a:xfrm>
            <a:off x="838199" y="3628482"/>
            <a:ext cx="10515600" cy="786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sz="2600" dirty="0"/>
              <a:t>Check your job status with </a:t>
            </a:r>
            <a:r>
              <a:rPr lang="en-US" sz="26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squeue</a:t>
            </a:r>
            <a:endParaRPr lang="en-US" sz="26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2A701B-6A89-036A-C8D4-A25932093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93" y="5206357"/>
            <a:ext cx="8678732" cy="6133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DBD866-8213-1A69-98CA-07349794C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93" y="4174783"/>
            <a:ext cx="8664862" cy="7869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FE6A835-4023-372D-B828-6EA2F1B3B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504" y="2472730"/>
            <a:ext cx="9205896" cy="89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06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6830F-CC92-C3E8-9034-E9D41D7B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AA4D30B-0F8D-079C-593F-B129146A7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E47F3-D2D1-5E38-34B8-4DF2006F0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8B238F14-FE46-FACC-FFC7-49F3EE84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0C1FF40E-EA32-0D46-FF8E-5DB42D81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49639F-4A6F-4D67-6CFA-D02720908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Check your job outputs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32DCCCC-2D57-B4D9-0FB9-9ABAB257B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5D6EBD5D-A832-BC31-4CD2-91934EFF4516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FC29EA4-748C-571B-0676-30331317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10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A194AC-EEEC-2934-375E-846E6C5A7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4" y="2293428"/>
            <a:ext cx="9981486" cy="369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95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6D969-D076-286D-61B4-95A14FAE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FE202A-3721-1865-23D6-E00BA1BC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20E91-2EC4-6660-02DB-66EB3E313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76B1C332-5121-0F81-1EE9-0B3FB0630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32BCD48A-6A63-117A-DDB3-A224364F9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480D35-C584-B863-8120-6D61F7D95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Experiment with your job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A49D00E-6D1D-FB8B-BD59-79B70BE14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184B4AD-62F5-7198-4E9E-37ABC952CFFE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75840D6-0269-1CA2-906D-F28EC3F2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AFC1226-A14A-2F55-C416-33C70D522F4F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Add the line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sleep</a:t>
            </a:r>
            <a:r>
              <a:rPr lang="en-US" sz="2800" b="1" dirty="0">
                <a:solidFill>
                  <a:srgbClr val="27C93F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5h</a:t>
            </a:r>
            <a:r>
              <a:rPr lang="en-US" sz="2800" b="1" dirty="0">
                <a:solidFill>
                  <a:srgbClr val="27C93F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/>
              <a:t>before the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echo</a:t>
            </a:r>
            <a:r>
              <a:rPr lang="en-US" sz="2800" b="1" dirty="0">
                <a:solidFill>
                  <a:srgbClr val="27C93F"/>
                </a:solidFill>
              </a:rPr>
              <a:t> </a:t>
            </a:r>
            <a:r>
              <a:rPr lang="en-US" sz="2800" dirty="0"/>
              <a:t>in your job script and submit your job. How do you cancel the job? </a:t>
            </a:r>
            <a:r>
              <a:rPr lang="en-US" sz="2800" i="1" dirty="0"/>
              <a:t>Hint: </a:t>
            </a:r>
            <a:r>
              <a:rPr lang="en-US" sz="2800" dirty="0"/>
              <a:t>use the command 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scancel</a:t>
            </a:r>
            <a:r>
              <a:rPr lang="en-US" sz="2800" b="1" dirty="0">
                <a:solidFill>
                  <a:srgbClr val="27C93F"/>
                </a:solidFill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8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jobid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What happens if you request a wall-time job of 1 minute and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sleep 120 </a:t>
            </a:r>
            <a:r>
              <a:rPr lang="en-US" sz="2800" dirty="0"/>
              <a:t>?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A0340-D9AC-2E8F-9284-275E66CA9005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https://github.com/RSE-Cambridge/Intro-to-Dawn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7306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0BDB5-1EAC-F719-B17B-64DF6F76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8901BE1-37E7-B349-2924-F71C621AA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C38C75-0A48-0432-EBD1-4377F2A4C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149657D-0898-E136-F539-472DEAF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247DB904-E189-DA4C-C1CB-BF94B3BE2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590608-1B6A-7CEB-9E29-8BA23566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Experiment with your job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6C7884AC-72AF-FE69-D95F-C246F5A95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884C5353-970C-6BED-22B6-63873EE668F2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708CF3-9E03-DD64-B01E-45BBBC62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B903BD3-4120-5668-970D-676FA1DFBEDB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7C2B7-2FB0-8E0D-1557-DA59E38EB076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DFBE0-B6B2-3324-0AE4-4305F4C31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52" y="2785511"/>
            <a:ext cx="10187535" cy="240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427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0402C3-FA19-5DEA-3C4D-EBEB6B320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45A2B9C-7F2E-36E4-E309-8D8EA7B89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A8E1DD-4F09-6138-281C-AC7A0AE6E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4CCF694-03CE-632A-2664-9FBF6C5B3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672290F-3B35-133C-8238-20AF7B603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7F6CAB-127F-CF91-290F-89AC33AA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Experiment with your job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D33236C-B49B-7214-0FB3-749EFE27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E499CC3-2BA5-A095-5BB7-91BCC6BDC8C7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1473878-69C8-77A1-1A04-C95157FD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C0D45DD-D78C-814F-0F62-A3697DD99334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What happens if you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sleep 120 </a:t>
            </a:r>
            <a:r>
              <a:rPr lang="en-US" sz="2800" dirty="0"/>
              <a:t>and request a wall-time job of 1 minute?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759B4-4206-566D-2865-882F54F61BAA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85158-3EC1-AA2A-1E1A-3A24F688F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565" y="3548974"/>
            <a:ext cx="8103016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74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1557A-7A51-7842-1288-01E84306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2AF5B40-0CD2-E69C-7CA1-244453CBE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E1DE3D-C223-372C-96F8-13376429B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11F16C8-1AC2-E618-D208-71A48F669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782112B-A794-4F0C-14B8-A56750352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43D966-4377-695E-F995-3D845EA1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Interactive Jobs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90549273-7F0F-66E0-20AE-88E47F13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F8A5C66-B329-7FAB-39FF-97FDB88AB77F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583E331-B683-550C-66FC-D0AA878A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7BA4B8A-2F20-1604-35D2-D3665AE8A9E9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The command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sinter</a:t>
            </a:r>
            <a:r>
              <a:rPr lang="en-US" sz="2800" dirty="0"/>
              <a:t> is a shortcut for interactive jobs: 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0CED2-8895-4086-2A07-B33C1775C289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8A9410-40C3-1E7E-8538-696C3878F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974" y="2744565"/>
            <a:ext cx="10484196" cy="28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31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7DA7D0-F035-8762-D8E9-D500E16E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8E6AB11-FE2E-409E-FB1C-BCBE71641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E97313-5786-800A-FE4D-A51F6D97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C2F8308-AF24-1A8B-5152-7188A7CCB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36DD02B-53FC-4A97-5120-A3B9299FB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4581A2B-7AA4-7BE5-375C-17CABB141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Interactive Jobs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1ABE08B-BE5E-751E-C01B-6578ED995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8B1AEE7-9262-E3F8-D2B8-8D100E0EFBC5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7EC3C78-31D1-AD3E-22A4-F6780BC7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C65396F-A0D1-8C51-BAD5-AFAFCF406D72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8B713-0A55-BF81-F150-227BF21B1A19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C0915B-A2D6-8CC6-EB76-66DE878EF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70" y="2599358"/>
            <a:ext cx="10040660" cy="96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39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5A282-C9FD-44FC-CDFD-1BA2A881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DE13964-2125-FEEE-F081-7E0EB5F04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29ADFF-4C02-D42D-C8F0-D2BA90C91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814FCC8-300F-F4B8-7363-B6FFA634A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C0A6F25-5878-7F44-2F03-9ACFB804A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8AAB9-B62F-4AA0-4FD3-DCEBAF70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Interactive Jobs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DBBB575D-E723-505B-67E2-0F6B0DFFA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A9C1C5D-1990-8C09-D869-445F0047BEBB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4CA69E6-F368-C289-D1D8-F9FBE3E3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8EB9D35-4AA6-4403-BF10-54B7F068B514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The command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sinter</a:t>
            </a:r>
            <a:r>
              <a:rPr lang="en-US" sz="2800" dirty="0"/>
              <a:t> is a shortcut for interactive jobs: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sintr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--account=FIX_ME --partition=pvc9  --nodes=1 --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ntasks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-per-node=1  --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cpus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-per-task=36 --mem-per-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cpu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=3800 --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gres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=gpu:4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--time=01:00:00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   "$@"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--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qos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=INTR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--mail-type=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start,end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--mail-user=&lt;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your_email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&gt; \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     --job-name=job-$(date +"%</a:t>
            </a:r>
            <a:r>
              <a:rPr lang="en-US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Y_%m_%d_%I_%M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")  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5D81F-58B5-27A5-4B29-201EA6A7AFA1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401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78DA3-40C4-5890-06FB-C821C763C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B9B5A07-AC19-4D71-6A07-CC6D02E62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582BD-E3FC-BA33-2A3B-7BFDDAA6B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C5FAE63B-7341-B013-A7B9-4BF1F2C0C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46194BB-4393-F43C-2D3A-E5CE890B1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6A688D-0295-82E4-C606-EAA6B6C83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Accessing Software </a:t>
            </a:r>
            <a:r>
              <a:rPr lang="en-US" dirty="0" err="1">
                <a:solidFill>
                  <a:srgbClr val="FFFFFF"/>
                </a:solidFill>
              </a:rPr>
              <a:t>Applictions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9CBF08AF-53B7-B947-6BFF-16F7B20B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4622990-C7E0-9B22-F39D-6B2FFB7FD4BF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ADE157A-C809-A767-8830-6F8CB50BC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542E284-8C58-74A0-9646-C10AEF59C262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The Look at your Launch Script </a:t>
            </a: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1-basicSlurm.sh</a:t>
            </a:r>
            <a:r>
              <a:rPr lang="en-US" sz="2800" dirty="0"/>
              <a:t>: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+mn-lt"/>
              </a:rPr>
              <a:t>Here we load default software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00717-AF1C-89A5-D9C3-E31367101185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951A24-3BBE-4AA0-60FC-608360230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747" y="3097982"/>
            <a:ext cx="5473981" cy="61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2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18A61-6480-6620-828D-113917A45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2A47B1-4962-EF43-807D-43497C02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01EF7B-124C-7548-12FA-4710DC7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71C44640-6F7C-3385-3075-EB30EC6D0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6145881-7AC1-71DD-9732-3A9D1C3B9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E64EE3-69A3-A5E8-AB2E-15F78437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Accessing Software </a:t>
            </a:r>
            <a:r>
              <a:rPr lang="en-US" dirty="0" err="1">
                <a:solidFill>
                  <a:srgbClr val="FFFFFF"/>
                </a:solidFill>
              </a:rPr>
              <a:t>Applictions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0F1D0B5D-4A40-DDB1-5310-4DECFB34B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1C251B5-E6E2-F2CA-0DD1-8CD4004A1B59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52C15AA-E6CB-C039-7791-2ADB054F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18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A9560DE-D85D-0DD6-F420-004353B9429F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The Look for software on the system: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BC6A1D-22E2-5501-7176-F8F9586D15CA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57DEDC-62C7-8C50-39C1-8665970CD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243" y="2746129"/>
            <a:ext cx="7948551" cy="317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00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249A0-5F0F-36F2-7848-95F273D06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CAD553C-F828-8D00-F2A2-798241CC0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E3C03-9BAD-26D0-1752-3B1018B2B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ACC3364-D4EE-EF1D-07DB-AC366369E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740A0E62-AFF3-65A8-F0B9-DEDCDF181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7F0070-C8DD-9ADE-2200-771F595E9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Accessing Software </a:t>
            </a:r>
            <a:r>
              <a:rPr lang="en-US" dirty="0" err="1">
                <a:solidFill>
                  <a:srgbClr val="FFFFFF"/>
                </a:solidFill>
              </a:rPr>
              <a:t>Applictions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DCAE03BC-97F4-0D65-0949-6D450FE62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6C9603C-079E-76C1-7B1F-58FFBD257188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51921D8-2BEA-5346-102B-B12B5A14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19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C82426C-687D-F12F-CB65-309EB7902A85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Filter for software on the system: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39203-0909-9CFA-02C1-78F87BB0E733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7776DF-A435-6F46-7CEB-DE2703595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805" y="3049093"/>
            <a:ext cx="10933434" cy="267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337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6DF3A7-2B0F-9B09-EA4F-4727F2D98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519ADF0-1C35-B8E7-1824-80AA441A6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E50710-B8A5-4D0A-4E11-B59A30E91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6E52B6E-2005-CC50-AF44-F1C743A34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1D6FFD7-B297-4AD0-87F5-8ED6B7103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E0FA79-9F80-AFB2-2F31-354384DE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Accessing Software </a:t>
            </a:r>
            <a:r>
              <a:rPr lang="en-US" dirty="0" err="1">
                <a:solidFill>
                  <a:srgbClr val="FFFFFF"/>
                </a:solidFill>
              </a:rPr>
              <a:t>Applictions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E2E9ABE-CD7C-A854-0B14-5AF073CE2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D928367-64D8-118D-71CA-18A67EB7A72C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9CC6DA0-00EA-6752-835C-7B742645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20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188D939-4D77-4770-3D1C-5D6DA976D1BB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Filter for Python software on the system: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BF92FD-32D3-6663-E877-DE3F95094716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A376B3-3445-A46F-9D21-D974FF524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403" y="2986680"/>
            <a:ext cx="6172517" cy="173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94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F1905-7513-1799-016A-8BC8FFBD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25AB063-60C7-1296-382E-881496F06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2337-0CE6-355A-E8D9-21AA50344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DC0EA91D-F4E7-CC26-670A-7C243AD42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5AF5C56-B7DE-FB28-379F-9A898A9D1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A408BD9-ABE5-5A1B-33EE-84A606D3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View loaded Modules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836FB78A-0BFA-4D04-5D20-50B719F86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79170EF-6F5C-E895-1B9B-B4D9F27541EA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CDDCD88-5B28-9A9C-CE7B-A6941918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21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D7F7812-D7E7-ED1B-282C-71286F8453BF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Modules Loaded on the system: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98A686-67EB-2AF9-35AD-DAD011BDD49B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9E950-BB12-1E70-F598-F040DBA04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02" y="3162597"/>
            <a:ext cx="11146343" cy="128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06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B6685-2CC3-0CE2-4EF4-E3B2EC37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F550B6-7AD1-B8C4-36A5-83BAB926F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B9E520-37E2-3A94-1769-B1B0E287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1390B02-E901-E56D-CEDD-841226987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DEA74EBD-7470-3B9B-AA9E-60D66DF1F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F176A0-4A0F-3662-1994-C0D9D0B1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Your turn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D3E04376-6EAB-C6C8-DE2B-F831A6BE1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43A63C5-B2C4-D8A3-9949-0A2A6CD3BCAE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247B5F8-361B-9255-A5FA-24CA45A5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22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2B00B26-95D3-9741-D9C4-556FB058D5F0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dirty="0"/>
              <a:t>Create a Python script called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hello.py </a:t>
            </a:r>
            <a:r>
              <a:rPr lang="en-US" sz="2800" dirty="0"/>
              <a:t>that contains: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A8E46A-0DAD-AB5B-1216-AFC3F170A675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A65B2-691A-5237-D6EF-223D950F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689" y="2930593"/>
            <a:ext cx="4810663" cy="31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01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5E2BBE-B55A-61F7-B601-F0E6F93E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A1A1C5D-F34F-0C40-031E-67E14B17E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DC2BD-DFCB-320D-2762-E010DB75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7B65912-E8AF-5766-BC34-B469E1EC4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AF52D6-DF21-A934-102F-D0E4DBA2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192FC0-A069-E62A-4BFC-563D38CD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Your turn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A5C65644-0D1A-B257-82F0-8DD6997AA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5E1E846-C0C3-A84B-8C5B-77EA0AB60A02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7A7D13C-26B2-F019-11CF-0E79BE5E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23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C8B31E8-A41E-CAFF-1A11-D99EF378CC3E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hello.py </a:t>
            </a:r>
            <a:r>
              <a:rPr lang="en-US" sz="2800" dirty="0"/>
              <a:t>Outputs:</a:t>
            </a:r>
          </a:p>
          <a:p>
            <a:pPr marL="0" indent="0">
              <a:buNone/>
            </a:pPr>
            <a:endParaRPr lang="en-US" sz="28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087B9-665B-98FB-BAB0-9C2B7CBFA0A8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8D5EF3-D6E9-75A1-6C97-3F90D324C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333" y="2925755"/>
            <a:ext cx="5378726" cy="6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150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F6ABF-7ADD-4DD7-9D07-D73D1255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567C39-5B7D-C4FE-EABA-8F407717C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057AC-5607-68AF-9502-2A2B5999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72FF7D4-304A-56CD-66B2-A3BB30FBC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2D16228-A90F-3D01-9861-49567CC14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A3EF5C-AD6D-C7F5-7469-869E3DBA5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Slurm</a:t>
            </a:r>
            <a:r>
              <a:rPr lang="en-GB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Array Job</a:t>
            </a:r>
            <a:r>
              <a:rPr lang="en-GB" dirty="0">
                <a:solidFill>
                  <a:srgbClr val="FFFFFF"/>
                </a:solidFill>
              </a:rPr>
              <a:t>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736BD4EF-8494-CB37-3E42-0BD43CB1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B6AA22D-704E-93E8-1108-FFD9613DE764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8E2C407-722D-364A-73DC-EFE80901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24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EB18BD0-6290-5C4B-B684-6CA3A92DB2AC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Run many jobs from one </a:t>
            </a:r>
            <a:r>
              <a:rPr lang="en-GB" sz="2800" dirty="0" err="1"/>
              <a:t>Slurm</a:t>
            </a:r>
            <a:r>
              <a:rPr lang="en-GB" sz="2800" dirty="0"/>
              <a:t> file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#SBATCH --array=1-10%2</a:t>
            </a:r>
          </a:p>
          <a:p>
            <a:pPr marL="0" indent="0">
              <a:buNone/>
            </a:pPr>
            <a:r>
              <a:rPr lang="en-GB" sz="2800" dirty="0"/>
              <a:t>Adding this will run the script 10 times with 2 jobs running simultaneously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Need to use with environment variables to make it useful.</a:t>
            </a:r>
          </a:p>
          <a:p>
            <a:pPr lvl="2"/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SLURM_JOB_ID</a:t>
            </a:r>
            <a:r>
              <a:rPr lang="en-GB" sz="2400" dirty="0"/>
              <a:t>          - Full job number for each array job</a:t>
            </a:r>
          </a:p>
          <a:p>
            <a:pPr lvl="2"/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  <a:highlight>
                  <a:srgbClr val="000000"/>
                </a:highlight>
              </a:rPr>
              <a:t>SLURM_ARRAY_JOB_ID</a:t>
            </a:r>
            <a:r>
              <a:rPr lang="en-GB" sz="2400" dirty="0"/>
              <a:t>    - Job id of the array itself</a:t>
            </a:r>
          </a:p>
          <a:p>
            <a:pPr lvl="2"/>
            <a:r>
              <a:rPr lang="en-GB" sz="2400" dirty="0"/>
              <a:t> </a:t>
            </a:r>
            <a:r>
              <a:rPr lang="en-GB" sz="2400" dirty="0">
                <a:solidFill>
                  <a:schemeClr val="bg1"/>
                </a:solidFill>
                <a:highlight>
                  <a:srgbClr val="000000"/>
                </a:highlight>
              </a:rPr>
              <a:t>SLURM_ARRAY_TASK_ID</a:t>
            </a:r>
            <a:r>
              <a:rPr lang="en-GB" sz="2400" dirty="0"/>
              <a:t>   - Index of the job in the array, e.g. a value between 1 and 10 from above.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To track these jobs, use the </a:t>
            </a:r>
            <a:r>
              <a:rPr lang="en-GB" sz="2800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sacct</a:t>
            </a:r>
            <a:r>
              <a:rPr lang="en-GB" sz="28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-j &lt;Job id&gt; </a:t>
            </a:r>
            <a:r>
              <a:rPr lang="en-GB" sz="2800" dirty="0"/>
              <a:t>command or the </a:t>
            </a:r>
            <a:r>
              <a:rPr lang="en-GB" sz="2800" dirty="0" err="1">
                <a:solidFill>
                  <a:schemeClr val="bg1"/>
                </a:solidFill>
                <a:highlight>
                  <a:srgbClr val="000000"/>
                </a:highlight>
              </a:rPr>
              <a:t>squeue</a:t>
            </a:r>
            <a:r>
              <a:rPr lang="en-GB" sz="2800" dirty="0"/>
              <a:t> command.</a:t>
            </a:r>
          </a:p>
          <a:p>
            <a:pPr lvl="2"/>
            <a:endParaRPr lang="en-US" sz="2400" dirty="0"/>
          </a:p>
          <a:p>
            <a:pPr>
              <a:buFont typeface="Courier New" panose="02070309020205020404" pitchFamily="49" charset="0"/>
              <a:buChar char="o"/>
            </a:pP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94015-D50E-3416-D814-DA9E754BFB0A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2623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9F1E1-5C13-E34F-0ACC-FCACE0179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E05EA3-E1C4-7B51-96BC-6D1FF838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0F992C-F2BA-D43F-75F1-C16D1D59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8E6BD37-A2B3-E215-AD4F-6FCA4BF04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134F192-5744-9BCB-FF02-207D3D7D2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299BF-4AEE-9477-B0F3-1FD02AE6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Slurm</a:t>
            </a:r>
            <a:r>
              <a:rPr lang="en-GB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Array Job</a:t>
            </a:r>
            <a:r>
              <a:rPr lang="en-GB" dirty="0">
                <a:solidFill>
                  <a:srgbClr val="FFFFFF"/>
                </a:solidFill>
              </a:rPr>
              <a:t>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745E5129-13AB-C88C-1872-6D1B7E449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FD9223A-7503-2C76-5F6D-793B695963F5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E162D06-5B24-D469-C746-D4466E8A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25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5D91F5F-B383-511A-C3EB-E6CF16403274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+ How do I give different values to each job?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  - Use the SLURM_ARRAY_TASK_ID as a lookup to the information you want to use.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GB" sz="28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+ How do I make a </a:t>
            </a:r>
            <a:r>
              <a:rPr lang="en-GB" sz="2800" dirty="0" err="1"/>
              <a:t>Slurm</a:t>
            </a:r>
            <a:r>
              <a:rPr lang="en-GB" sz="2800" dirty="0"/>
              <a:t> array bigger than </a:t>
            </a:r>
            <a:r>
              <a:rPr lang="en-GB" sz="2800" dirty="0" err="1"/>
              <a:t>MaxArraySize</a:t>
            </a:r>
            <a:r>
              <a:rPr lang="en-GB" sz="2800" dirty="0"/>
              <a:t>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  - Set to 4000 on DAWN, defaults to 1001.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  - Use a script to repeatedly launch a </a:t>
            </a:r>
            <a:r>
              <a:rPr lang="en-GB" sz="2800" dirty="0" err="1"/>
              <a:t>slurm</a:t>
            </a:r>
            <a:r>
              <a:rPr lang="en-GB" sz="2800" dirty="0"/>
              <a:t> job with an increasing offset each time 1,2,3.....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     * </a:t>
            </a:r>
            <a:r>
              <a:rPr lang="en-GB" sz="2800" dirty="0" err="1"/>
              <a:t>Slurm</a:t>
            </a:r>
            <a:r>
              <a:rPr lang="en-GB" sz="2800" dirty="0"/>
              <a:t> scripts can take command line arguments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     * Add this to </a:t>
            </a:r>
            <a:r>
              <a:rPr lang="en-GB" sz="2800" dirty="0">
                <a:solidFill>
                  <a:schemeClr val="bg1"/>
                </a:solidFill>
                <a:highlight>
                  <a:srgbClr val="000000"/>
                </a:highlight>
              </a:rPr>
              <a:t>SLURM_ARRAY_TASK_ID </a:t>
            </a:r>
            <a:r>
              <a:rPr lang="en-GB" sz="2800" dirty="0"/>
              <a:t>before doing the lookup.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47D4E-70B9-7CC2-9E34-6FC450B7BC94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791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9289F1-7294-68D5-9E4C-2F985B0F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22415A-744D-6263-6769-7CA2C7EB7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A528A1-37C6-DBD8-4F71-03C2E4F3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5BCFB3A-C624-C99C-2D6B-94561242C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969B5EB-84F4-8B75-1F93-97D34FA0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988A96-591F-FB37-0CE8-DD2F7FF6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Slurm</a:t>
            </a:r>
            <a:r>
              <a:rPr lang="en-GB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signal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0518A0F2-CB59-D969-0A4E-EAE2FA06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00C0DC76-B2F5-E287-632A-73BC41BB5977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293EE16-E859-D1D2-07BD-642ED667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26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E0B4D7D-D11A-90D3-D648-D42971C0C742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+ How do I save my job before it jets killed? 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35571-11C8-8D18-C681-5FFE5DE45265}"/>
              </a:ext>
            </a:extLst>
          </p:cNvPr>
          <p:cNvSpPr txBox="1"/>
          <p:nvPr/>
        </p:nvSpPr>
        <p:spPr>
          <a:xfrm>
            <a:off x="119743" y="6459543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E40D51-B49E-DA26-7223-80D041EC6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53" y="2671323"/>
            <a:ext cx="4540791" cy="379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19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AAF55-405F-54A0-01F0-CDE3A70B0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F776E0A-31D1-ED06-B3C3-DF1A272F0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A05C9-3661-038F-1988-A7449ED40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AE777243-6679-D40E-D815-8E79BF05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10C329C2-DDA8-CD23-CB3F-B55C053BE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EB09B7-5676-F24D-C0C2-CA767561D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Slurm</a:t>
            </a:r>
            <a:r>
              <a:rPr lang="en-GB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Job </a:t>
            </a:r>
            <a:r>
              <a:rPr lang="en-GB" i="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Dependancies</a:t>
            </a:r>
            <a:r>
              <a:rPr lang="en-GB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Job</a:t>
            </a:r>
            <a:r>
              <a:rPr lang="en-GB" dirty="0">
                <a:solidFill>
                  <a:srgbClr val="FFFFFF"/>
                </a:solidFill>
              </a:rPr>
              <a:t>s</a:t>
            </a:r>
            <a:endParaRPr lang="en-US" i="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red letters in space&#10;&#10;AI-generated content may be incorrect.">
            <a:extLst>
              <a:ext uri="{FF2B5EF4-FFF2-40B4-BE49-F238E27FC236}">
                <a16:creationId xmlns:a16="http://schemas.microsoft.com/office/drawing/2014/main" id="{CA6EEC25-0A86-C62E-424D-32D1FF0FD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746" y="6359346"/>
            <a:ext cx="2193472" cy="480452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24B7ACF-9D27-7AD8-0123-B1DEDCEA8AC7}"/>
              </a:ext>
            </a:extLst>
          </p:cNvPr>
          <p:cNvSpPr txBox="1">
            <a:spLocks/>
          </p:cNvSpPr>
          <p:nvPr/>
        </p:nvSpPr>
        <p:spPr>
          <a:xfrm>
            <a:off x="838200" y="4902988"/>
            <a:ext cx="10668000" cy="1696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1C817E6-78C2-85D3-6DA7-2B36317F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27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A912467-97C3-8CE2-F79E-C732288BA1AF}"/>
              </a:ext>
            </a:extLst>
          </p:cNvPr>
          <p:cNvSpPr txBox="1">
            <a:spLocks/>
          </p:cNvSpPr>
          <p:nvPr/>
        </p:nvSpPr>
        <p:spPr>
          <a:xfrm>
            <a:off x="838200" y="2205885"/>
            <a:ext cx="10515600" cy="3221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GB" sz="2800" dirty="0"/>
              <a:t>+ How do I set one job to depend on another?</a:t>
            </a:r>
            <a:endParaRPr lang="en-US" sz="28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3B449-AFE1-FC2D-0A1F-3CC91BA030BC}"/>
              </a:ext>
            </a:extLst>
          </p:cNvPr>
          <p:cNvSpPr txBox="1"/>
          <p:nvPr/>
        </p:nvSpPr>
        <p:spPr>
          <a:xfrm>
            <a:off x="1786247" y="6174788"/>
            <a:ext cx="6113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https://github.com/RSE-Cambridge/Intro-to-Dawn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481047-3027-AA26-6A93-D910A5A4B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92" y="2882613"/>
            <a:ext cx="7677545" cy="25210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5CC544-3ABE-8282-B80F-1E2B7A0DC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789" y="3129178"/>
            <a:ext cx="4710159" cy="103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64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5794471"/>
            <a:ext cx="6974911" cy="861420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>
              <a:lnSpc>
                <a:spcPct val="90000"/>
              </a:lnSpc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support@HPC.cam.ac.uk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 rtlCol="0">
            <a:normAutofit/>
          </a:bodyPr>
          <a:lstStyle>
            <a:defPPr>
              <a:defRPr lang="en-GB"/>
            </a:defPPr>
          </a:lstStyle>
          <a:p>
            <a:pPr rtl="0"/>
            <a:r>
              <a:rPr lang="en-GB" dirty="0"/>
              <a:t>Thank You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A7104D-40A7-4835-AB4E-9EE34E4F5962}"/>
              </a:ext>
            </a:extLst>
          </p:cNvPr>
          <p:cNvSpPr txBox="1"/>
          <p:nvPr/>
        </p:nvSpPr>
        <p:spPr>
          <a:xfrm>
            <a:off x="1154955" y="1320801"/>
            <a:ext cx="6820645" cy="169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When looking for answers try these </a:t>
            </a:r>
            <a:r>
              <a:rPr lang="en-US" altLang="en-US" sz="2000" dirty="0">
                <a:latin typeface="+mj-lt"/>
                <a:ea typeface="+mj-ea"/>
                <a:cs typeface="+mj-cs"/>
              </a:rPr>
              <a:t>pages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:</a:t>
            </a:r>
          </a:p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dawn-intel-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gpu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-</a:t>
            </a:r>
            <a:r>
              <a:rPr kumimoji="0" lang="en-US" altLang="en-US" sz="2000" u="none" strike="noStrike" cap="none" normalizeH="0" baseline="0" dirty="0" err="1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pvc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  <a:hlinkClick r:id="rId3"/>
              </a:rPr>
              <a:t>-nodes</a:t>
            </a: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 </a:t>
            </a:r>
          </a:p>
          <a:p>
            <a:pPr marL="0" marR="0" lvl="0" indent="0" fontAlgn="base"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tabLst/>
            </a:pPr>
            <a:r>
              <a:rPr kumimoji="0" lang="en-US" altLang="en-US" sz="2000" u="none" strike="noStrike" cap="none" normalizeH="0" baseline="0" dirty="0">
                <a:ln>
                  <a:noFill/>
                </a:ln>
                <a:effectLst/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2612BF0-F7D7-CBB7-2CF9-B95F0243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b="0" i="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28</a:t>
            </a:fld>
            <a:endParaRPr lang="en-US" b="0" i="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4606</TotalTime>
  <Words>909</Words>
  <Application>Microsoft Office PowerPoint</Application>
  <PresentationFormat>Widescreen</PresentationFormat>
  <Paragraphs>151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Century Gothic</vt:lpstr>
      <vt:lpstr>Consolas</vt:lpstr>
      <vt:lpstr>Courier New</vt:lpstr>
      <vt:lpstr>Gill Sans Nova</vt:lpstr>
      <vt:lpstr>Wingdings 3</vt:lpstr>
      <vt:lpstr>Ion</vt:lpstr>
      <vt:lpstr>Intro to Dawn </vt:lpstr>
      <vt:lpstr>2. Connecting to DAWN</vt:lpstr>
      <vt:lpstr>Projects and QoS</vt:lpstr>
      <vt:lpstr>System Overview </vt:lpstr>
      <vt:lpstr>Your Home folder:50GB</vt:lpstr>
      <vt:lpstr>Your Project folder: 2TB&gt;</vt:lpstr>
      <vt:lpstr>Choose your editor</vt:lpstr>
      <vt:lpstr>Create your job script</vt:lpstr>
      <vt:lpstr>Submit your job script</vt:lpstr>
      <vt:lpstr>Check your job outputs</vt:lpstr>
      <vt:lpstr>Experiment with your job</vt:lpstr>
      <vt:lpstr>Experiment with your job</vt:lpstr>
      <vt:lpstr>Experiment with your job</vt:lpstr>
      <vt:lpstr>Interactive Jobs</vt:lpstr>
      <vt:lpstr>Interactive Jobs</vt:lpstr>
      <vt:lpstr>Interactive Jobs</vt:lpstr>
      <vt:lpstr>Accessing Software Applictions</vt:lpstr>
      <vt:lpstr>Accessing Software Applictions</vt:lpstr>
      <vt:lpstr>Accessing Software Applictions</vt:lpstr>
      <vt:lpstr>Accessing Software Applictions</vt:lpstr>
      <vt:lpstr>View loaded Modules</vt:lpstr>
      <vt:lpstr>Your turn</vt:lpstr>
      <vt:lpstr>Your turn</vt:lpstr>
      <vt:lpstr>Slurm Array Jobs</vt:lpstr>
      <vt:lpstr>Slurm Array Jobs</vt:lpstr>
      <vt:lpstr>Slurm signal</vt:lpstr>
      <vt:lpstr>Slurm Job Dependancies Jobs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Hartley</dc:creator>
  <cp:lastModifiedBy>Simon Hartley</cp:lastModifiedBy>
  <cp:revision>4</cp:revision>
  <dcterms:created xsi:type="dcterms:W3CDTF">2025-11-24T08:49:48Z</dcterms:created>
  <dcterms:modified xsi:type="dcterms:W3CDTF">2026-03-09T13:27:53Z</dcterms:modified>
</cp:coreProperties>
</file>